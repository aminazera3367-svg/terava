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9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embeddedFontLst>
    <p:embeddedFont>
      <p:font typeface="Garamond" panose="02020404030301010803" pitchFamily="18" charset="0"/>
      <p:regular r:id="rId9"/>
      <p:bold r:id="rId10"/>
      <p:italic r:id="rId11"/>
      <p:boldItalic r:id="rId12"/>
    </p:embeddedFont>
    <p:embeddedFont>
      <p:font typeface="Oswald" panose="00000500000000000000" pitchFamily="2" charset="0"/>
      <p:regular r:id="rId13"/>
      <p:bold r:id="rId1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96" name="Google Shape;96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09" name="Google Shape;109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22" name="Google Shape;12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4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35" name="Google Shape;135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5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47" name="Google Shape;147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6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body" idx="1"/>
          </p:nvPr>
        </p:nvSpPr>
        <p:spPr>
          <a:xfrm>
            <a:off x="609600" y="1095375"/>
            <a:ext cx="10972800" cy="5030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4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body" idx="1"/>
          </p:nvPr>
        </p:nvSpPr>
        <p:spPr>
          <a:xfrm>
            <a:off x="609600" y="1600203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body" idx="2"/>
          </p:nvPr>
        </p:nvSpPr>
        <p:spPr>
          <a:xfrm>
            <a:off x="6197600" y="1600203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body" idx="3"/>
          </p:nvPr>
        </p:nvSpPr>
        <p:spPr>
          <a:xfrm>
            <a:off x="6193369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body" idx="4"/>
          </p:nvPr>
        </p:nvSpPr>
        <p:spPr>
          <a:xfrm>
            <a:off x="6193369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6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7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8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1"/>
          </p:nvPr>
        </p:nvSpPr>
        <p:spPr>
          <a:xfrm>
            <a:off x="4766733" y="273053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body" idx="2"/>
          </p:nvPr>
        </p:nvSpPr>
        <p:spPr>
          <a:xfrm>
            <a:off x="609602" y="1435103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0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body" idx="1"/>
          </p:nvPr>
        </p:nvSpPr>
        <p:spPr>
          <a:xfrm rot="5400000">
            <a:off x="3580606" y="-1875631"/>
            <a:ext cx="5030788" cy="109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>
            <a:spLocks noGrp="1"/>
          </p:cNvSpPr>
          <p:nvPr>
            <p:ph type="title"/>
          </p:nvPr>
        </p:nvSpPr>
        <p:spPr>
          <a:xfrm rot="5400000">
            <a:off x="7285038" y="1828804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body" idx="1"/>
          </p:nvPr>
        </p:nvSpPr>
        <p:spPr>
          <a:xfrm rot="5400000">
            <a:off x="1697038" y="-812796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609600" y="1095375"/>
            <a:ext cx="10972800" cy="5030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link.springer.com/chapter/10.1007/978-981-19-9379-4_9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3"/>
          <p:cNvSpPr/>
          <p:nvPr/>
        </p:nvSpPr>
        <p:spPr>
          <a:xfrm>
            <a:off x="1524000" y="72738"/>
            <a:ext cx="9144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3"/>
          <p:cNvSpPr/>
          <p:nvPr/>
        </p:nvSpPr>
        <p:spPr>
          <a:xfrm>
            <a:off x="5656780" y="851521"/>
            <a:ext cx="4638605" cy="5154967"/>
          </a:xfrm>
          <a:custGeom>
            <a:avLst/>
            <a:gdLst/>
            <a:ahLst/>
            <a:cxnLst/>
            <a:rect l="l" t="t" r="r" b="b"/>
            <a:pathLst>
              <a:path w="6184806" h="5154967" extrusionOk="0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rgbClr val="7F7F7F">
              <a:alpha val="14901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0" name="Google Shape;90;p13"/>
          <p:cNvPicPr preferRelativeResize="0"/>
          <p:nvPr/>
        </p:nvPicPr>
        <p:blipFill rotWithShape="1">
          <a:blip r:embed="rId3">
            <a:alphaModFix/>
          </a:blip>
          <a:srcRect r="59916"/>
          <a:stretch/>
        </p:blipFill>
        <p:spPr>
          <a:xfrm>
            <a:off x="6836200" y="1861350"/>
            <a:ext cx="3203502" cy="3280774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>
            <a:spLocks noGrp="1"/>
          </p:cNvSpPr>
          <p:nvPr>
            <p:ph type="ctrTitle"/>
          </p:nvPr>
        </p:nvSpPr>
        <p:spPr>
          <a:xfrm>
            <a:off x="304811" y="-579932"/>
            <a:ext cx="10363200" cy="207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  <a:t>SMART INDIA HACKATHON 2025</a:t>
            </a:r>
            <a:endParaRPr sz="4000" b="1">
              <a:solidFill>
                <a:schemeClr val="dk2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92" name="Google Shape;92;p13"/>
          <p:cNvSpPr txBox="1"/>
          <p:nvPr/>
        </p:nvSpPr>
        <p:spPr>
          <a:xfrm>
            <a:off x="304800" y="1496675"/>
            <a:ext cx="10865400" cy="514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0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Problem Statement ID </a:t>
            </a:r>
            <a:r>
              <a:rPr lang="en-US" sz="24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</a:t>
            </a:r>
            <a:r>
              <a:rPr lang="en-US" sz="25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>
                <a:solidFill>
                  <a:schemeClr val="dk1"/>
                </a:solidFill>
              </a:rPr>
              <a:t>SIH25002</a:t>
            </a:r>
            <a:endParaRPr sz="2000">
              <a:solidFill>
                <a:schemeClr val="dk1"/>
              </a:solidFill>
            </a:endParaRPr>
          </a:p>
          <a:p>
            <a:pPr marL="285750" marR="0" lvl="0" indent="-26035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Proble</a:t>
            </a:r>
            <a:r>
              <a:rPr lang="en-US" sz="2000" b="1">
                <a:solidFill>
                  <a:schemeClr val="dk1"/>
                </a:solidFill>
              </a:rPr>
              <a:t>m </a:t>
            </a:r>
            <a:r>
              <a:rPr lang="en-US" sz="20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Statement</a:t>
            </a:r>
            <a:r>
              <a:rPr lang="en-US" sz="2000" b="1">
                <a:solidFill>
                  <a:schemeClr val="dk1"/>
                </a:solidFill>
              </a:rPr>
              <a:t> - </a:t>
            </a:r>
            <a:r>
              <a:rPr lang="en-US" sz="2000">
                <a:solidFill>
                  <a:schemeClr val="dk1"/>
                </a:solidFill>
              </a:rPr>
              <a:t>Smart Tourist Safety Monitoring &amp; </a:t>
            </a:r>
            <a:endParaRPr sz="2000">
              <a:solidFill>
                <a:schemeClr val="dk1"/>
              </a:solidFill>
            </a:endParaRPr>
          </a:p>
          <a:p>
            <a:pPr marL="0" marR="0" lvl="0" indent="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</a:rPr>
              <a:t>   Incident Response System using Al, Geo-Fencing, and </a:t>
            </a:r>
            <a:endParaRPr sz="2000">
              <a:solidFill>
                <a:schemeClr val="dk1"/>
              </a:solidFill>
            </a:endParaRPr>
          </a:p>
          <a:p>
            <a:pPr marL="0" marR="0" lvl="0" indent="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</a:rPr>
              <a:t>   Blockchain-based Digital ID</a:t>
            </a:r>
            <a:endParaRPr sz="2000">
              <a:solidFill>
                <a:schemeClr val="dk1"/>
              </a:solidFill>
            </a:endParaRPr>
          </a:p>
          <a:p>
            <a:pPr marL="285750" marR="0" lvl="0" indent="-26035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Theme-</a:t>
            </a:r>
            <a:r>
              <a:rPr lang="en-US" sz="2000">
                <a:solidFill>
                  <a:schemeClr val="dk1"/>
                </a:solidFill>
              </a:rPr>
              <a:t>Travel &amp; Tourism</a:t>
            </a:r>
            <a:endParaRPr sz="2000">
              <a:solidFill>
                <a:schemeClr val="dk1"/>
              </a:solidFill>
            </a:endParaRPr>
          </a:p>
          <a:p>
            <a:pPr marL="285750" marR="0" lvl="0" indent="-26035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PS Category- </a:t>
            </a:r>
            <a:r>
              <a:rPr lang="en-US" sz="2000">
                <a:solidFill>
                  <a:schemeClr val="dk1"/>
                </a:solidFill>
              </a:rPr>
              <a:t>Software/Hardware</a:t>
            </a:r>
            <a:endParaRPr sz="2000"/>
          </a:p>
          <a:p>
            <a:pPr marL="285750" marR="0" lvl="0" indent="-26035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Team ID-</a:t>
            </a:r>
            <a:endParaRPr sz="2000" b="1"/>
          </a:p>
          <a:p>
            <a:pPr marL="285750" marR="0" lvl="0" indent="-26035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Team Name (Registered on portal)- </a:t>
            </a:r>
            <a:r>
              <a:rPr lang="en-US" sz="2000">
                <a:solidFill>
                  <a:schemeClr val="dk1"/>
                </a:solidFill>
              </a:rPr>
              <a:t>Cognita</a:t>
            </a:r>
            <a:endParaRPr sz="2000">
              <a:solidFill>
                <a:schemeClr val="dk1"/>
              </a:solidFill>
            </a:endParaRPr>
          </a:p>
        </p:txBody>
      </p:sp>
      <p:pic>
        <p:nvPicPr>
          <p:cNvPr id="93" name="Google Shape;93;p13" descr="https://www.sih.gov.in/img1/SIH-Logo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841366" y="6297"/>
            <a:ext cx="2209120" cy="11228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4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dist="23000" dir="5400000" rotWithShape="0">
              <a:srgbClr val="80808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4"/>
          <p:cNvSpPr txBox="1">
            <a:spLocks noGrp="1"/>
          </p:cNvSpPr>
          <p:nvPr>
            <p:ph type="title"/>
          </p:nvPr>
        </p:nvSpPr>
        <p:spPr>
          <a:xfrm>
            <a:off x="183000" y="-100300"/>
            <a:ext cx="10972800" cy="50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3600" b="1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3600" b="1">
                <a:latin typeface="Times New Roman"/>
                <a:ea typeface="Times New Roman"/>
                <a:cs typeface="Times New Roman"/>
                <a:sym typeface="Times New Roman"/>
              </a:rPr>
              <a:t>IDEA TITLE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31650" y="864400"/>
            <a:ext cx="12128700" cy="4708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sz="2000" b="1" dirty="0"/>
              <a:t>Solution</a:t>
            </a:r>
          </a:p>
          <a:p>
            <a:r>
              <a:rPr lang="en-US" sz="2000" b="1" dirty="0"/>
              <a:t>Security Scans:</a:t>
            </a:r>
            <a:r>
              <a:rPr lang="en-US" sz="2000" dirty="0"/>
              <a:t> Identify and fix exposed services.</a:t>
            </a:r>
          </a:p>
          <a:p>
            <a:r>
              <a:rPr lang="en-US" sz="2000" b="1" dirty="0"/>
              <a:t>Asset Mapping:</a:t>
            </a:r>
            <a:r>
              <a:rPr lang="en-US" sz="2000" dirty="0"/>
              <a:t> Prioritize system updates.</a:t>
            </a:r>
          </a:p>
          <a:p>
            <a:r>
              <a:rPr lang="en-US" sz="2000" b="1" dirty="0"/>
              <a:t>Ethical Hacking:</a:t>
            </a:r>
            <a:r>
              <a:rPr lang="en-US" sz="2000" dirty="0"/>
              <a:t> Lawfully test and improve defenses.</a:t>
            </a:r>
          </a:p>
          <a:p>
            <a:r>
              <a:rPr lang="en-US" sz="2000" b="1" dirty="0"/>
              <a:t>Public Data Analysis:</a:t>
            </a:r>
            <a:r>
              <a:rPr lang="en-US" sz="2000" dirty="0"/>
              <a:t> Find threats and exposed data securely.</a:t>
            </a:r>
          </a:p>
          <a:p>
            <a:endParaRPr lang="en-US" sz="2000" dirty="0"/>
          </a:p>
          <a:p>
            <a:r>
              <a:rPr lang="en-US" sz="2000" b="1" dirty="0"/>
              <a:t>Addressing the Problem</a:t>
            </a:r>
          </a:p>
          <a:p>
            <a:r>
              <a:rPr lang="en-US" sz="2000" b="1" dirty="0"/>
              <a:t>Prevent Risks:</a:t>
            </a:r>
            <a:r>
              <a:rPr lang="en-US" sz="2000" dirty="0"/>
              <a:t> Uncover system weaknesses and data exposure.</a:t>
            </a:r>
          </a:p>
          <a:p>
            <a:r>
              <a:rPr lang="en-US" sz="2000" b="1" dirty="0"/>
              <a:t>Secure Data:</a:t>
            </a:r>
            <a:r>
              <a:rPr lang="en-US" sz="2000" dirty="0"/>
              <a:t> Fix misconfigurations to stop leaks.</a:t>
            </a:r>
          </a:p>
          <a:p>
            <a:r>
              <a:rPr lang="en-US" sz="2000" b="1" dirty="0"/>
              <a:t>Enable Response:</a:t>
            </a:r>
            <a:r>
              <a:rPr lang="en-US" sz="2000" dirty="0"/>
              <a:t> Provide key info to agencies for fast action.</a:t>
            </a:r>
          </a:p>
          <a:p>
            <a:endParaRPr lang="en-US" sz="2000" dirty="0"/>
          </a:p>
          <a:p>
            <a:r>
              <a:rPr lang="en-US" sz="2000" b="1" dirty="0"/>
              <a:t>Innovation</a:t>
            </a:r>
          </a:p>
          <a:p>
            <a:r>
              <a:rPr lang="en-US" sz="2000" b="1" dirty="0"/>
              <a:t>Hybrid Approach:</a:t>
            </a:r>
            <a:r>
              <a:rPr lang="en-US" sz="2000" dirty="0"/>
              <a:t> Combines ethical scanning with public data analysis.</a:t>
            </a:r>
          </a:p>
          <a:p>
            <a:r>
              <a:rPr lang="en-US" sz="2000" b="1" dirty="0"/>
              <a:t>Privacy-First:</a:t>
            </a:r>
            <a:r>
              <a:rPr lang="en-US" sz="2000" dirty="0"/>
              <a:t> Strictly follows all legal and ethical rules.</a:t>
            </a:r>
          </a:p>
          <a:p>
            <a:r>
              <a:rPr lang="en-US" sz="2000" b="1" dirty="0"/>
              <a:t>Unique Tech Stack:</a:t>
            </a:r>
            <a:r>
              <a:rPr lang="en-US" sz="2000" dirty="0"/>
              <a:t> Integrates AI, blockchain, and mesh networking.</a:t>
            </a:r>
          </a:p>
        </p:txBody>
      </p:sp>
      <p:sp>
        <p:nvSpPr>
          <p:cNvPr id="102" name="Google Shape;102;p14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lt1"/>
                </a:solidFill>
              </a:rPr>
              <a:t>2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103" name="Google Shape;103;p14"/>
          <p:cNvSpPr txBox="1">
            <a:spLocks noGrp="1"/>
          </p:cNvSpPr>
          <p:nvPr>
            <p:ph type="ftr" idx="11"/>
          </p:nvPr>
        </p:nvSpPr>
        <p:spPr>
          <a:xfrm>
            <a:off x="4648200" y="6356353"/>
            <a:ext cx="3204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@SIH Idea submission- Template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04" name="Google Shape;104;p14" descr="Your startup LOGO"/>
          <p:cNvSpPr/>
          <p:nvPr/>
        </p:nvSpPr>
        <p:spPr>
          <a:xfrm>
            <a:off x="183000" y="57100"/>
            <a:ext cx="1451100" cy="807300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Cognita</a:t>
            </a:r>
            <a:endParaRPr sz="19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5" name="Google Shape;105;p14" descr="https://www.sih.gov.in/img1/SIH-Logo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841366" y="57097"/>
            <a:ext cx="2209120" cy="112286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02728" y="1430631"/>
            <a:ext cx="3684472" cy="30430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5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dist="23000" dir="5400000" rotWithShape="0">
              <a:srgbClr val="80808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5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latin typeface="Times New Roman"/>
                <a:ea typeface="Times New Roman"/>
                <a:cs typeface="Times New Roman"/>
                <a:sym typeface="Times New Roman"/>
              </a:rPr>
              <a:t>TECHNICAL APPROACH</a:t>
            </a:r>
            <a:endParaRPr/>
          </a:p>
        </p:txBody>
      </p:sp>
      <p:sp>
        <p:nvSpPr>
          <p:cNvPr id="114" name="Google Shape;114;p15"/>
          <p:cNvSpPr txBox="1"/>
          <p:nvPr/>
        </p:nvSpPr>
        <p:spPr>
          <a:xfrm>
            <a:off x="0" y="1200097"/>
            <a:ext cx="8622890" cy="42472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lvl="0" indent="-285750" algn="just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N" sz="1800" b="1" dirty="0">
                <a:solidFill>
                  <a:schemeClr val="dk1"/>
                </a:solidFill>
              </a:rPr>
              <a:t>IoT</a:t>
            </a:r>
            <a:r>
              <a:rPr lang="en-IN" sz="1800" dirty="0">
                <a:solidFill>
                  <a:schemeClr val="dk1"/>
                </a:solidFill>
              </a:rPr>
              <a:t>: LoRa modules, Smart Bands</a:t>
            </a:r>
          </a:p>
          <a:p>
            <a:pPr marL="285750" lvl="0" indent="-285750" algn="just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IN" sz="1800" dirty="0">
              <a:solidFill>
                <a:schemeClr val="dk1"/>
              </a:solidFill>
            </a:endParaRPr>
          </a:p>
          <a:p>
            <a:pPr marL="285750" lvl="0" indent="-285750" algn="just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N" sz="1800" b="1" dirty="0">
                <a:solidFill>
                  <a:schemeClr val="dk1"/>
                </a:solidFill>
              </a:rPr>
              <a:t>Networking</a:t>
            </a:r>
            <a:r>
              <a:rPr lang="en-IN" sz="1800" dirty="0">
                <a:solidFill>
                  <a:schemeClr val="dk1"/>
                </a:solidFill>
              </a:rPr>
              <a:t>: Hybrid Mesh Network, GSLB (Global Server Load Balancing)</a:t>
            </a:r>
          </a:p>
          <a:p>
            <a:pPr marL="285750" lvl="0" indent="-285750" algn="just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IN" sz="1800" dirty="0">
              <a:solidFill>
                <a:schemeClr val="dk1"/>
              </a:solidFill>
            </a:endParaRPr>
          </a:p>
          <a:p>
            <a:pPr marL="285750" lvl="0" indent="-285750" algn="just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N" sz="1800" b="1" dirty="0">
                <a:solidFill>
                  <a:schemeClr val="dk1"/>
                </a:solidFill>
              </a:rPr>
              <a:t>AI/ML: </a:t>
            </a:r>
            <a:r>
              <a:rPr lang="en-IN" sz="1800" dirty="0">
                <a:solidFill>
                  <a:schemeClr val="dk1"/>
                </a:solidFill>
              </a:rPr>
              <a:t>NumPy, Pandas, RISK Scorer, Behaviour Anomaly, Prediction Batch</a:t>
            </a:r>
          </a:p>
          <a:p>
            <a:pPr marL="285750" lvl="0" indent="-285750" algn="just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IN" sz="1800" dirty="0">
              <a:solidFill>
                <a:schemeClr val="dk1"/>
              </a:solidFill>
            </a:endParaRPr>
          </a:p>
          <a:p>
            <a:pPr marL="285750" lvl="0" indent="-285750" algn="just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N" sz="1800" b="1" dirty="0">
                <a:solidFill>
                  <a:schemeClr val="dk1"/>
                </a:solidFill>
              </a:rPr>
              <a:t>Maps &amp; Geo-Fencing</a:t>
            </a:r>
            <a:r>
              <a:rPr lang="en-IN" sz="1800" dirty="0">
                <a:solidFill>
                  <a:schemeClr val="dk1"/>
                </a:solidFill>
              </a:rPr>
              <a:t>: PyDeck</a:t>
            </a:r>
          </a:p>
          <a:p>
            <a:pPr marL="285750" lvl="0" indent="-285750" algn="just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IN" sz="1800" dirty="0">
              <a:solidFill>
                <a:schemeClr val="dk1"/>
              </a:solidFill>
            </a:endParaRPr>
          </a:p>
          <a:p>
            <a:pPr marL="285750" lvl="0" indent="-285750" algn="just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N" sz="1800" b="1" dirty="0">
                <a:solidFill>
                  <a:schemeClr val="dk1"/>
                </a:solidFill>
              </a:rPr>
              <a:t>Security</a:t>
            </a:r>
            <a:r>
              <a:rPr lang="en-IN" sz="1800" dirty="0">
                <a:solidFill>
                  <a:schemeClr val="dk1"/>
                </a:solidFill>
              </a:rPr>
              <a:t>: Ethereum Blockchain</a:t>
            </a:r>
          </a:p>
          <a:p>
            <a:pPr marL="285750" lvl="0" indent="-285750" algn="just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IN" sz="1800" dirty="0">
              <a:solidFill>
                <a:schemeClr val="dk1"/>
              </a:solidFill>
            </a:endParaRPr>
          </a:p>
          <a:p>
            <a:pPr marL="285750" lvl="0" indent="-285750" algn="just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N" sz="1800" b="1" dirty="0">
                <a:solidFill>
                  <a:schemeClr val="dk1"/>
                </a:solidFill>
              </a:rPr>
              <a:t>Database</a:t>
            </a:r>
            <a:r>
              <a:rPr lang="en-IN" sz="1800" dirty="0">
                <a:solidFill>
                  <a:schemeClr val="dk1"/>
                </a:solidFill>
              </a:rPr>
              <a:t>: SQLite</a:t>
            </a:r>
          </a:p>
          <a:p>
            <a:pPr marL="285750" lvl="0" indent="-285750" algn="just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IN" sz="1800" dirty="0">
              <a:solidFill>
                <a:schemeClr val="dk1"/>
              </a:solidFill>
            </a:endParaRPr>
          </a:p>
          <a:p>
            <a:pPr marL="285750" lvl="0" indent="-285750" algn="just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N" sz="1800" b="1" dirty="0">
                <a:solidFill>
                  <a:schemeClr val="dk1"/>
                </a:solidFill>
              </a:rPr>
              <a:t>Backend</a:t>
            </a:r>
            <a:r>
              <a:rPr lang="en-IN" sz="1800" dirty="0">
                <a:solidFill>
                  <a:schemeClr val="dk1"/>
                </a:solidFill>
              </a:rPr>
              <a:t>: Streamlit / Flask</a:t>
            </a:r>
          </a:p>
          <a:p>
            <a:pPr marL="285750" lvl="0" indent="-285750" algn="just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IN" sz="1800" dirty="0">
              <a:solidFill>
                <a:schemeClr val="dk1"/>
              </a:solidFill>
            </a:endParaRPr>
          </a:p>
          <a:p>
            <a:pPr marL="285750" lvl="0" indent="-285750" algn="just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N" sz="1800" b="1" dirty="0">
                <a:solidFill>
                  <a:schemeClr val="dk1"/>
                </a:solidFill>
              </a:rPr>
              <a:t>Frontend</a:t>
            </a:r>
            <a:r>
              <a:rPr lang="en-IN" sz="1800" dirty="0">
                <a:solidFill>
                  <a:schemeClr val="dk1"/>
                </a:solidFill>
              </a:rPr>
              <a:t>: React.js, HTML/CSS</a:t>
            </a:r>
          </a:p>
        </p:txBody>
      </p:sp>
      <p:sp>
        <p:nvSpPr>
          <p:cNvPr id="115" name="Google Shape;115;p15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lt1"/>
                </a:solidFill>
              </a:rPr>
              <a:t>3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116" name="Google Shape;116;p15"/>
          <p:cNvSpPr txBox="1">
            <a:spLocks noGrp="1"/>
          </p:cNvSpPr>
          <p:nvPr>
            <p:ph type="ftr" idx="11"/>
          </p:nvPr>
        </p:nvSpPr>
        <p:spPr>
          <a:xfrm>
            <a:off x="4648200" y="6356353"/>
            <a:ext cx="3204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@SIH Idea submission- Template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17" name="Google Shape;117;p15" descr="Your startup LOGO"/>
          <p:cNvSpPr/>
          <p:nvPr/>
        </p:nvSpPr>
        <p:spPr>
          <a:xfrm>
            <a:off x="329775" y="252250"/>
            <a:ext cx="1469700" cy="807300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Cognita</a:t>
            </a:r>
            <a:endParaRPr sz="20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8" name="Google Shape;118;p15" descr="https://www.sih.gov.in/img1/SIH-Logo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841366" y="57097"/>
            <a:ext cx="2209120" cy="112286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00103" y="1301775"/>
            <a:ext cx="3991897" cy="42544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6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dist="23000" dir="5400000" rotWithShape="0">
              <a:srgbClr val="80808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6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latin typeface="Times New Roman"/>
                <a:ea typeface="Times New Roman"/>
                <a:cs typeface="Times New Roman"/>
                <a:sym typeface="Times New Roman"/>
              </a:rPr>
              <a:t>FEASIBILITY AND VIABILITY</a:t>
            </a:r>
            <a:endParaRPr/>
          </a:p>
        </p:txBody>
      </p:sp>
      <p:sp>
        <p:nvSpPr>
          <p:cNvPr id="127" name="Google Shape;127;p16"/>
          <p:cNvSpPr txBox="1"/>
          <p:nvPr/>
        </p:nvSpPr>
        <p:spPr>
          <a:xfrm>
            <a:off x="-15550" y="1535700"/>
            <a:ext cx="10493400" cy="378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 b="1" dirty="0">
                <a:solidFill>
                  <a:schemeClr val="dk1"/>
                </a:solidFill>
              </a:rPr>
              <a:t>Feasibility:</a:t>
            </a:r>
            <a:endParaRPr sz="2000" b="1" dirty="0"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 dirty="0">
                <a:solidFill>
                  <a:schemeClr val="dk1"/>
                </a:solidFill>
              </a:rPr>
              <a:t>Achievable using low-energy sensors, GPS technology, and blockchain-supported digital identification incorporated into a wearable </a:t>
            </a:r>
            <a:endParaRPr sz="2000" dirty="0"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 dirty="0">
                <a:solidFill>
                  <a:schemeClr val="dk1"/>
                </a:solidFill>
              </a:rPr>
              <a:t>device for immediate monitoring and notifications.</a:t>
            </a:r>
            <a:endParaRPr sz="2000" dirty="0"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000" dirty="0">
              <a:solidFill>
                <a:schemeClr val="dk1"/>
              </a:solidFill>
            </a:endParaRPr>
          </a:p>
          <a:p>
            <a:pPr marL="45720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 b="1" dirty="0">
                <a:solidFill>
                  <a:schemeClr val="dk1"/>
                </a:solidFill>
              </a:rPr>
              <a:t>Challenges:</a:t>
            </a:r>
            <a:endParaRPr sz="2000" b="1" dirty="0">
              <a:solidFill>
                <a:schemeClr val="dk1"/>
              </a:solidFill>
            </a:endParaRPr>
          </a:p>
          <a:p>
            <a:pPr marL="45720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 dirty="0">
                <a:solidFill>
                  <a:schemeClr val="dk1"/>
                </a:solidFill>
              </a:rPr>
              <a:t>Difficult to maintain battery life, connectivity, and security when </a:t>
            </a:r>
            <a:endParaRPr sz="2000" dirty="0">
              <a:solidFill>
                <a:schemeClr val="dk1"/>
              </a:solidFill>
            </a:endParaRPr>
          </a:p>
          <a:p>
            <a:pPr marL="45720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 dirty="0">
                <a:solidFill>
                  <a:schemeClr val="dk1"/>
                </a:solidFill>
              </a:rPr>
              <a:t>many users rely on the watch at the same time.</a:t>
            </a:r>
            <a:endParaRPr sz="2000" dirty="0">
              <a:solidFill>
                <a:schemeClr val="dk1"/>
              </a:solidFill>
            </a:endParaRPr>
          </a:p>
          <a:p>
            <a:pPr marL="45720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000" dirty="0">
              <a:solidFill>
                <a:schemeClr val="dk1"/>
              </a:solidFill>
            </a:endParaRPr>
          </a:p>
          <a:p>
            <a:pPr marL="45720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 b="1" dirty="0">
                <a:solidFill>
                  <a:schemeClr val="dk1"/>
                </a:solidFill>
              </a:rPr>
              <a:t>Strategies:</a:t>
            </a:r>
            <a:endParaRPr sz="2000" b="1" dirty="0">
              <a:solidFill>
                <a:schemeClr val="dk1"/>
              </a:solidFill>
            </a:endParaRPr>
          </a:p>
          <a:p>
            <a:pPr marL="45720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 dirty="0">
                <a:solidFill>
                  <a:schemeClr val="dk1"/>
                </a:solidFill>
              </a:rPr>
              <a:t>Utilize energy-efficient design, intelligent data sharing, and robust security updates to ensure the watch remains dependable for every user.</a:t>
            </a:r>
            <a:endParaRPr sz="2000" dirty="0">
              <a:solidFill>
                <a:schemeClr val="dk1"/>
              </a:solidFill>
            </a:endParaRPr>
          </a:p>
        </p:txBody>
      </p:sp>
      <p:sp>
        <p:nvSpPr>
          <p:cNvPr id="128" name="Google Shape;128;p16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fld id="{00000000-1234-1234-1234-123412341234}" type="slidenum">
              <a:rPr lang="en-US" sz="1200" b="1" i="0" u="none" strike="noStrike" cap="non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4</a:t>
            </a:fld>
            <a:endParaRPr sz="1200" b="1" i="0" u="none" strike="noStrike" cap="non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29" name="Google Shape;129;p16"/>
          <p:cNvSpPr txBox="1">
            <a:spLocks noGrp="1"/>
          </p:cNvSpPr>
          <p:nvPr>
            <p:ph type="ftr" idx="11"/>
          </p:nvPr>
        </p:nvSpPr>
        <p:spPr>
          <a:xfrm>
            <a:off x="4648200" y="6356353"/>
            <a:ext cx="3204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@SIH Idea submission- Template</a:t>
            </a:r>
            <a:endParaRPr sz="1200" b="0" i="0" u="none" strike="noStrike" cap="non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30" name="Google Shape;130;p16" descr="Your startup LOGO"/>
          <p:cNvSpPr/>
          <p:nvPr/>
        </p:nvSpPr>
        <p:spPr>
          <a:xfrm>
            <a:off x="329773" y="252246"/>
            <a:ext cx="1251900" cy="807300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cognita</a:t>
            </a:r>
            <a:endParaRPr sz="18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1" name="Google Shape;131;p16" descr="https://www.sih.gov.in/img1/SIH-Logo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841366" y="57097"/>
            <a:ext cx="2209120" cy="112286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841386" y="1451110"/>
            <a:ext cx="2209100" cy="29980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7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dist="23000" dir="5400000" rotWithShape="0">
              <a:srgbClr val="80808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7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latin typeface="Times New Roman"/>
                <a:ea typeface="Times New Roman"/>
                <a:cs typeface="Times New Roman"/>
                <a:sym typeface="Times New Roman"/>
              </a:rPr>
              <a:t>IMPACT AND BENEFITS</a:t>
            </a:r>
            <a:endParaRPr/>
          </a:p>
        </p:txBody>
      </p:sp>
      <p:sp>
        <p:nvSpPr>
          <p:cNvPr id="140" name="Google Shape;140;p17"/>
          <p:cNvSpPr txBox="1"/>
          <p:nvPr/>
        </p:nvSpPr>
        <p:spPr>
          <a:xfrm>
            <a:off x="174600" y="1095375"/>
            <a:ext cx="12151200" cy="501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 b="1" dirty="0"/>
              <a:t>Potential Impact on Target Audience</a:t>
            </a:r>
            <a:endParaRPr sz="2000" b="1" dirty="0"/>
          </a:p>
          <a:p>
            <a:pPr marL="45720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000" dirty="0"/>
          </a:p>
          <a:p>
            <a:pPr marL="457200" lvl="0" indent="-355600" algn="just" rtl="0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 dirty="0"/>
              <a:t>Tourists and families get real-time alerts, SOS support, and peace of mind, while authorities can respond faster to emergencies.</a:t>
            </a:r>
            <a:endParaRPr sz="2000" dirty="0"/>
          </a:p>
          <a:p>
            <a:pPr marL="91440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000" dirty="0"/>
          </a:p>
          <a:p>
            <a:pPr marL="457200" lvl="0" indent="-355600" algn="just" rtl="0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 b="1" dirty="0"/>
              <a:t>Mesh networks </a:t>
            </a:r>
            <a:r>
              <a:rPr lang="en-US" sz="2000" dirty="0"/>
              <a:t>ensure strong connectivity and quicker assistance, even in remote or crowded areas.</a:t>
            </a:r>
            <a:endParaRPr sz="2000" dirty="0"/>
          </a:p>
          <a:p>
            <a:pPr marL="45720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000" b="1" dirty="0"/>
          </a:p>
          <a:p>
            <a:pPr marL="45720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 b="1" dirty="0"/>
              <a:t>Benefits of the Solution</a:t>
            </a:r>
            <a:endParaRPr sz="2000" b="1" dirty="0"/>
          </a:p>
          <a:p>
            <a:pPr marL="45720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000" dirty="0"/>
          </a:p>
          <a:p>
            <a:pPr marL="457200" lvl="0" indent="-355600" algn="just" rtl="0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 b="1" dirty="0"/>
              <a:t>Social:</a:t>
            </a:r>
            <a:r>
              <a:rPr lang="en-US" sz="2000" dirty="0"/>
              <a:t> Enhanced safety, reduced crime, peace of mind.</a:t>
            </a:r>
            <a:endParaRPr sz="2000" dirty="0"/>
          </a:p>
          <a:p>
            <a:pPr marL="91440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000" dirty="0"/>
          </a:p>
          <a:p>
            <a:pPr marL="457200" lvl="0" indent="-355600" algn="just" rtl="0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 b="1" dirty="0"/>
              <a:t>Economic:</a:t>
            </a:r>
            <a:r>
              <a:rPr lang="en-US" sz="2000" dirty="0"/>
              <a:t> Boosts tourism confidence and local economy.</a:t>
            </a:r>
            <a:endParaRPr sz="2000" dirty="0"/>
          </a:p>
          <a:p>
            <a:pPr marL="91440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000" dirty="0"/>
          </a:p>
          <a:p>
            <a:pPr marL="457200" lvl="0" indent="-355600" algn="just" rtl="0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 b="1" dirty="0"/>
              <a:t>Environmental:</a:t>
            </a:r>
            <a:r>
              <a:rPr lang="en-US" sz="2000" dirty="0"/>
              <a:t> Optimized resource use with AI-driven monitoring and fewer unnecessary patrols.</a:t>
            </a:r>
            <a:endParaRPr sz="2000" dirty="0"/>
          </a:p>
          <a:p>
            <a:pPr marL="91440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000" dirty="0"/>
          </a:p>
          <a:p>
            <a:pPr marL="457200" lvl="0" indent="-355600" algn="just" rtl="0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 b="1" dirty="0"/>
              <a:t>Technological:</a:t>
            </a:r>
            <a:r>
              <a:rPr lang="en-US" sz="2000" dirty="0"/>
              <a:t> Encourages adoption of smart, secure digital infrastructure.</a:t>
            </a:r>
            <a:endParaRPr sz="2800" dirty="0"/>
          </a:p>
        </p:txBody>
      </p:sp>
      <p:sp>
        <p:nvSpPr>
          <p:cNvPr id="141" name="Google Shape;141;p17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fld id="{00000000-1234-1234-1234-123412341234}" type="slidenum">
              <a:rPr lang="en-US" sz="1200" b="1" i="0" u="none" strike="noStrike" cap="non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5</a:t>
            </a:fld>
            <a:endParaRPr sz="1200" b="1" i="0" u="none" strike="noStrike" cap="non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42" name="Google Shape;142;p17"/>
          <p:cNvSpPr txBox="1">
            <a:spLocks noGrp="1"/>
          </p:cNvSpPr>
          <p:nvPr>
            <p:ph type="ftr" idx="11"/>
          </p:nvPr>
        </p:nvSpPr>
        <p:spPr>
          <a:xfrm>
            <a:off x="4648200" y="6356353"/>
            <a:ext cx="3204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@SIH Idea submission- Template</a:t>
            </a:r>
            <a:endParaRPr sz="1200" b="0" i="0" u="none" strike="noStrike" cap="non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43" name="Google Shape;143;p17" descr="Your startup LOGO"/>
          <p:cNvSpPr/>
          <p:nvPr/>
        </p:nvSpPr>
        <p:spPr>
          <a:xfrm>
            <a:off x="329775" y="252250"/>
            <a:ext cx="1488600" cy="807300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Cognita</a:t>
            </a:r>
            <a:endParaRPr sz="20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4" name="Google Shape;144;p17" descr="https://www.sih.gov.in/img1/SIH-Logo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841366" y="57097"/>
            <a:ext cx="2209120" cy="11228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8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dist="23000" dir="5400000" rotWithShape="0">
              <a:srgbClr val="80808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8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latin typeface="Times New Roman"/>
                <a:ea typeface="Times New Roman"/>
                <a:cs typeface="Times New Roman"/>
                <a:sym typeface="Times New Roman"/>
              </a:rPr>
              <a:t>RESEARCH  AND REFERENCES</a:t>
            </a:r>
            <a:endParaRPr/>
          </a:p>
        </p:txBody>
      </p:sp>
      <p:sp>
        <p:nvSpPr>
          <p:cNvPr id="152" name="Google Shape;152;p18"/>
          <p:cNvSpPr txBox="1"/>
          <p:nvPr/>
        </p:nvSpPr>
        <p:spPr>
          <a:xfrm>
            <a:off x="0" y="0"/>
            <a:ext cx="12192000" cy="728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100" b="1">
                <a:solidFill>
                  <a:schemeClr val="dk1"/>
                </a:solidFill>
              </a:rPr>
              <a:t>1.</a:t>
            </a:r>
            <a:r>
              <a:rPr lang="en-US" sz="2100" b="1">
                <a:solidFill>
                  <a:schemeClr val="dk1"/>
                </a:solidFill>
                <a:uFill>
                  <a:noFill/>
                </a:u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US" sz="2100">
                <a:solidFill>
                  <a:schemeClr val="dk1"/>
                </a:solidFill>
              </a:rPr>
              <a:t>Peng, Lei &amp; Chen, Yan. (2021). Tourism safety monitoring information service system based on internet of things and block-chain. Journal of Intelligent &amp; Fuzzy Systems. 1-7. 10.3233/JIFS-219101. </a:t>
            </a:r>
            <a:endParaRPr sz="21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100"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100" b="1">
                <a:solidFill>
                  <a:schemeClr val="dk1"/>
                </a:solidFill>
              </a:rPr>
              <a:t>2</a:t>
            </a:r>
            <a:r>
              <a:rPr lang="en-US" sz="2100">
                <a:solidFill>
                  <a:schemeClr val="dk1"/>
                </a:solidFill>
              </a:rPr>
              <a:t>. Cilfone et al. (2019): For an IoT-focused perspective, "Wireless Mesh Networking: An IoT-Oriented Perspective Survey on Relevant Technologies" is a valuable citation. </a:t>
            </a:r>
            <a:endParaRPr sz="21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1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1"/>
                </a:solidFill>
              </a:rPr>
              <a:t>3. Cilfone, A.; Davoli, L.; Belli, L.; Ferrari, G. Wireless Mesh Networking: An IoT-Oriented Perspective Survey on Relevant Technologies. Future Internet 2019, 11, 99. https://doi.org/10.3390/fi11040099</a:t>
            </a:r>
            <a:endParaRPr sz="21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1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600" b="1">
              <a:solidFill>
                <a:schemeClr val="dk1"/>
              </a:solidFill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3100"/>
          </a:p>
        </p:txBody>
      </p:sp>
      <p:sp>
        <p:nvSpPr>
          <p:cNvPr id="153" name="Google Shape;153;p18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fld id="{00000000-1234-1234-1234-123412341234}" type="slidenum">
              <a:rPr lang="en-US" sz="1200" b="1" i="0" u="none" strike="noStrike" cap="non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6</a:t>
            </a:fld>
            <a:endParaRPr sz="1200" b="1" i="0" u="none" strike="noStrike" cap="non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54" name="Google Shape;154;p18"/>
          <p:cNvSpPr txBox="1">
            <a:spLocks noGrp="1"/>
          </p:cNvSpPr>
          <p:nvPr>
            <p:ph type="ftr" idx="11"/>
          </p:nvPr>
        </p:nvSpPr>
        <p:spPr>
          <a:xfrm>
            <a:off x="4648200" y="6356353"/>
            <a:ext cx="3204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@SIH Idea submission- Template</a:t>
            </a:r>
            <a:endParaRPr sz="1200" b="0" i="0" u="none" strike="noStrike" cap="non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55" name="Google Shape;155;p18" descr="Your startup LOGO"/>
          <p:cNvSpPr/>
          <p:nvPr/>
        </p:nvSpPr>
        <p:spPr>
          <a:xfrm>
            <a:off x="272725" y="214888"/>
            <a:ext cx="1432500" cy="807300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Cognita</a:t>
            </a:r>
            <a:endParaRPr sz="20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6" name="Google Shape;156;p18" descr="https://www.sih.gov.in/img1/SIH-Logo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841366" y="57097"/>
            <a:ext cx="2209120" cy="11228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556</Words>
  <Application>Microsoft Office PowerPoint</Application>
  <PresentationFormat>Widescreen</PresentationFormat>
  <Paragraphs>101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Times New Roman</vt:lpstr>
      <vt:lpstr>Calibri</vt:lpstr>
      <vt:lpstr>Oswald</vt:lpstr>
      <vt:lpstr>Garamond</vt:lpstr>
      <vt:lpstr>Arial</vt:lpstr>
      <vt:lpstr>Office Theme</vt:lpstr>
      <vt:lpstr>SMART INDIA HACKATHON 2025</vt:lpstr>
      <vt:lpstr> IDEA TITLE</vt:lpstr>
      <vt:lpstr>TECHNICAL APPROACH</vt:lpstr>
      <vt:lpstr>FEASIBILITY AND VIABILITY</vt:lpstr>
      <vt:lpstr>IMPACT AND BENEFITS</vt:lpstr>
      <vt:lpstr>RESEARCH  AND 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Dileep V</dc:creator>
  <cp:lastModifiedBy>Dileep V</cp:lastModifiedBy>
  <cp:revision>1</cp:revision>
  <dcterms:modified xsi:type="dcterms:W3CDTF">2025-09-16T15:27:55Z</dcterms:modified>
</cp:coreProperties>
</file>